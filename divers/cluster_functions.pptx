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80B150-DE94-BDA9-AF08-BFB31ACCF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ABF202F-E10E-5CB0-BAE7-2349F41C4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04003C-2C76-CC94-051E-F79998B49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140F8D-500F-5688-4D24-CD85C073A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57A2A4-58C2-DE21-BF77-F4281BFE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64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2F0DF-0781-92EB-CFF4-71D696E3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F70F0A-A383-8983-7B44-9096CE8F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BC9E32-D81C-FF0A-0C09-8C12ACAE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F979AB-C48A-F070-2731-EFB368E3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96A6BC-B86F-8E74-9C5C-8770007E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96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DC4B0-0193-916B-843E-DCE2CFF7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955E3D-A375-9194-434B-6F2B0835A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AE6500-DB42-9251-BFA0-4B2CDF96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99272B-1AB1-BE12-25C3-B71261A7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6B9BAC-039C-4D5E-5372-302AEBB7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84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3A25CE-CDA5-299F-CB92-40E3D70E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0812F8-1D24-F054-2895-3E49EF84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577EF24-855A-FBAD-1FFE-6581EFB74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059E-3816-216C-8820-844E8CFE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8451B5-940F-6334-FF5F-18B4FC70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A6D4E7-CF0A-A712-BF56-DAC40C41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59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9702B9-261F-B70C-C7ED-90AA6B4C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E0EF59-8D44-4A83-B642-AFB7526B6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BDD818-3004-0604-7571-9A67B8F3F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CFB141-90A4-E1F9-49A5-767F0BF7A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BAB37C-1755-E4FC-6AD1-868A17637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418064-4588-44DD-4F2E-05416AC3B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6EA030-CE98-733C-0541-9DF7E992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05EED56-7245-C1A4-FE3C-8A233209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7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CEBA20-5F5C-13F1-19DC-CD7086E6A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50DE81-B682-082A-C8D6-5699D309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A5A18D8-4926-8C41-7789-65BFD908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3B7810-A46D-33F9-6528-4A99C6E8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546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5479FE2-40E2-6A3A-0736-30C284AB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D43682-A8A7-3D8C-81EE-3AD934688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DD002B-8110-2527-6FB8-F33FFD17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801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AD7D65-724B-EC2D-E64B-17923EC4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249A92-58F9-0B09-0D1E-D2A50ADFC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E621DE-B02E-7128-4841-E7619FC7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A181FE-5C20-8A73-90C9-A214B70C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A930B0-22C9-58CE-2F50-DBE30D4C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4D3EFC-8DBA-27E7-7983-6EF78D85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84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C63E9E-8C76-340A-EA2B-3DC23EC92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DAC5757-6227-0A07-CD4C-30DC291F8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36384A-83B0-152C-7872-F235EC558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103813-CAB2-70C0-1063-508418FE8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16D489-A2A6-8B8D-C3C7-905D841C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2CD60D-14EB-A766-7B0C-5EDDD753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31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E86867-4303-7D56-9E64-5EB12FBF7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B269FB-29E7-B4A1-EF07-339DA6438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277DF2-3E2A-7E16-320F-E50C16A3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FF0A90-7C96-698E-1D15-D6A09D3A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05ABE8-6D8C-929A-1BC1-7595F6DA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287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730A74-2F25-CF30-341E-8096B614C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37468C2-FB3A-36F8-5C64-3154F5BF6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97D66A-E163-28BA-29F3-D9FA729D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013C37-448E-F373-9661-FB0DF06D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FB1F64-0F4B-91B8-2337-EE7A0D18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617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365F4C7-E6CE-A931-8D93-3882C622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DBAEA0-025B-4AB0-6AAD-65DA540EC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92B9C4-03A6-5766-F890-92A1824E3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EF8EA-B1B0-4CA7-8CC9-D56F2E605D7D}" type="datetimeFigureOut">
              <a:rPr lang="fr-FR" smtClean="0"/>
              <a:t>03/10/2025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527C17-12B1-B70E-4CC1-CAB963438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D93F63-09C7-6447-67C8-D07C91B89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C3659-C16E-491C-8BCE-E2E3A4E13F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58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63D1F7D-1A37-9902-C42B-3EBAF9FAFF0C}"/>
              </a:ext>
            </a:extLst>
          </p:cNvPr>
          <p:cNvSpPr txBox="1"/>
          <p:nvPr/>
        </p:nvSpPr>
        <p:spPr>
          <a:xfrm>
            <a:off x="3877036" y="-39088"/>
            <a:ext cx="3870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PairwiseIdentity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en-US" dirty="0" err="1"/>
              <a:t>Df</a:t>
            </a:r>
            <a:r>
              <a:rPr lang="en-US" dirty="0"/>
              <a:t>: asv1, asv2, percentage of identity.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BA51A8F-1B29-51F4-FE49-58812E78BFBA}"/>
              </a:ext>
            </a:extLst>
          </p:cNvPr>
          <p:cNvSpPr txBox="1"/>
          <p:nvPr/>
        </p:nvSpPr>
        <p:spPr>
          <a:xfrm>
            <a:off x="189447" y="2015895"/>
            <a:ext cx="2247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GetClusterIdSwarm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(</a:t>
            </a:r>
            <a:r>
              <a:rPr lang="fr-FR" dirty="0" err="1"/>
              <a:t>cluster_swarm</a:t>
            </a:r>
            <a:r>
              <a:rPr lang="fr-FR" dirty="0"/>
              <a:t>)</a:t>
            </a:r>
            <a:br>
              <a:rPr lang="fr-FR" dirty="0"/>
            </a:br>
            <a:r>
              <a:rPr lang="en-US" dirty="0" err="1"/>
              <a:t>Df</a:t>
            </a:r>
            <a:r>
              <a:rPr lang="en-US" dirty="0"/>
              <a:t>: </a:t>
            </a:r>
            <a:r>
              <a:rPr lang="en-US" dirty="0" err="1"/>
              <a:t>asv_id</a:t>
            </a:r>
            <a:r>
              <a:rPr lang="en-US" dirty="0"/>
              <a:t>, </a:t>
            </a:r>
            <a:r>
              <a:rPr lang="en-US" dirty="0" err="1"/>
              <a:t>cluster_id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F59379-0891-CE91-C2D9-3DE8404B59BA}"/>
              </a:ext>
            </a:extLst>
          </p:cNvPr>
          <p:cNvSpPr txBox="1"/>
          <p:nvPr/>
        </p:nvSpPr>
        <p:spPr>
          <a:xfrm>
            <a:off x="4387812" y="1959448"/>
            <a:ext cx="31917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GetClusterIdVsearch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(</a:t>
            </a:r>
            <a:r>
              <a:rPr lang="fr-FR" dirty="0" err="1"/>
              <a:t>cluster_vsearch_cluster_size</a:t>
            </a:r>
            <a:r>
              <a:rPr lang="fr-FR" dirty="0"/>
              <a:t>)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 err="1"/>
              <a:t>Df</a:t>
            </a:r>
            <a:r>
              <a:rPr lang="fr-FR" dirty="0"/>
              <a:t>:  </a:t>
            </a:r>
            <a:r>
              <a:rPr lang="fr-FR" dirty="0" err="1"/>
              <a:t>asv_id</a:t>
            </a:r>
            <a:r>
              <a:rPr lang="fr-FR" dirty="0"/>
              <a:t>, </a:t>
            </a:r>
            <a:r>
              <a:rPr lang="fr-FR" dirty="0" err="1"/>
              <a:t>cluster_id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170281-7443-A6D9-2089-9A7BD15BF321}"/>
              </a:ext>
            </a:extLst>
          </p:cNvPr>
          <p:cNvSpPr txBox="1"/>
          <p:nvPr/>
        </p:nvSpPr>
        <p:spPr>
          <a:xfrm>
            <a:off x="680851" y="660098"/>
            <a:ext cx="56433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PairwiseIdentityPlotPerSwarmD</a:t>
            </a:r>
            <a:br>
              <a:rPr lang="fr-FR" dirty="0"/>
            </a:br>
            <a:r>
              <a:rPr lang="fr-FR" dirty="0"/>
              <a:t>plot</a:t>
            </a:r>
            <a:br>
              <a:rPr lang="fr-FR" dirty="0"/>
            </a:br>
            <a:r>
              <a:rPr lang="fr-FR" dirty="0" err="1"/>
              <a:t>df</a:t>
            </a:r>
            <a:r>
              <a:rPr lang="fr-FR" dirty="0"/>
              <a:t>: </a:t>
            </a:r>
            <a:r>
              <a:rPr lang="en-US" dirty="0" err="1"/>
              <a:t>pairwise_asv_identity</a:t>
            </a:r>
            <a:r>
              <a:rPr lang="en-US" dirty="0"/>
              <a:t>, cluster, </a:t>
            </a:r>
            <a:r>
              <a:rPr lang="en-US" dirty="0" err="1"/>
              <a:t>clustering_parameter</a:t>
            </a:r>
            <a:endParaRPr lang="fr-FR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65B163F-CCDC-C9C1-14B6-2BDFAC7E4B5F}"/>
              </a:ext>
            </a:extLst>
          </p:cNvPr>
          <p:cNvCxnSpPr>
            <a:cxnSpLocks/>
            <a:stCxn id="4" idx="1"/>
            <a:endCxn id="7" idx="0"/>
          </p:cNvCxnSpPr>
          <p:nvPr/>
        </p:nvCxnSpPr>
        <p:spPr>
          <a:xfrm flipH="1">
            <a:off x="3502521" y="284078"/>
            <a:ext cx="374515" cy="37602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B42D7A0F-B660-3C01-E5C6-9ADC2668382E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V="1">
            <a:off x="1313056" y="1583428"/>
            <a:ext cx="2189465" cy="43246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8A5E52F7-1FEC-0DB2-F675-5AD6B4C82500}"/>
              </a:ext>
            </a:extLst>
          </p:cNvPr>
          <p:cNvSpPr txBox="1"/>
          <p:nvPr/>
        </p:nvSpPr>
        <p:spPr>
          <a:xfrm>
            <a:off x="6548660" y="562069"/>
            <a:ext cx="56433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PairwiseIdentityPlotPerClusterIdentityThreshold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(</a:t>
            </a:r>
            <a:r>
              <a:rPr lang="fr-FR" dirty="0" err="1"/>
              <a:t>PairwiseIdentityPlotPerClusterIdThreshold</a:t>
            </a:r>
            <a:r>
              <a:rPr lang="fr-FR" dirty="0"/>
              <a:t>)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Plot</a:t>
            </a:r>
          </a:p>
          <a:p>
            <a:r>
              <a:rPr lang="fr-FR" dirty="0" err="1"/>
              <a:t>df</a:t>
            </a:r>
            <a:r>
              <a:rPr lang="fr-FR" dirty="0"/>
              <a:t>: </a:t>
            </a:r>
            <a:r>
              <a:rPr lang="en-US" dirty="0" err="1"/>
              <a:t>pairwise_asv_identity</a:t>
            </a:r>
            <a:r>
              <a:rPr lang="en-US" dirty="0"/>
              <a:t>, cluster, </a:t>
            </a:r>
            <a:r>
              <a:rPr lang="en-US" dirty="0" err="1"/>
              <a:t>clustering_parameter</a:t>
            </a:r>
            <a:endParaRPr lang="fr-FR" dirty="0"/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5B4D442A-A4CC-6FED-D61D-F17F8152E33F}"/>
              </a:ext>
            </a:extLst>
          </p:cNvPr>
          <p:cNvCxnSpPr>
            <a:cxnSpLocks/>
            <a:stCxn id="4" idx="3"/>
            <a:endCxn id="21" idx="0"/>
          </p:cNvCxnSpPr>
          <p:nvPr/>
        </p:nvCxnSpPr>
        <p:spPr>
          <a:xfrm>
            <a:off x="7747711" y="284078"/>
            <a:ext cx="1622619" cy="27799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6967DF97-A007-3527-B90F-9D2B36E34618}"/>
              </a:ext>
            </a:extLst>
          </p:cNvPr>
          <p:cNvCxnSpPr>
            <a:cxnSpLocks/>
            <a:stCxn id="6" idx="0"/>
            <a:endCxn id="21" idx="2"/>
          </p:cNvCxnSpPr>
          <p:nvPr/>
        </p:nvCxnSpPr>
        <p:spPr>
          <a:xfrm flipV="1">
            <a:off x="5983698" y="1762398"/>
            <a:ext cx="3386632" cy="19705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771F9937-0826-7541-E39D-CBAAAD06FD78}"/>
              </a:ext>
            </a:extLst>
          </p:cNvPr>
          <p:cNvSpPr txBox="1"/>
          <p:nvPr/>
        </p:nvSpPr>
        <p:spPr>
          <a:xfrm>
            <a:off x="7579583" y="5657501"/>
            <a:ext cx="46124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ClassifyClusters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en-US" dirty="0" err="1"/>
              <a:t>Df</a:t>
            </a:r>
            <a:r>
              <a:rPr lang="en-US" dirty="0"/>
              <a:t>: </a:t>
            </a:r>
            <a:r>
              <a:rPr lang="en-US" dirty="0" err="1"/>
              <a:t>cluster_id</a:t>
            </a:r>
            <a:r>
              <a:rPr lang="en-US" dirty="0"/>
              <a:t>, class for each taxonomic level</a:t>
            </a:r>
            <a:endParaRPr lang="fr-FR" dirty="0"/>
          </a:p>
          <a:p>
            <a:endParaRPr lang="fr-FR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7F830D2-8DC2-CD95-E2A2-9BACA28A0574}"/>
              </a:ext>
            </a:extLst>
          </p:cNvPr>
          <p:cNvSpPr txBox="1"/>
          <p:nvPr/>
        </p:nvSpPr>
        <p:spPr>
          <a:xfrm>
            <a:off x="7246672" y="2971646"/>
            <a:ext cx="49453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PlotClusterClasstification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 err="1"/>
              <a:t>Df</a:t>
            </a:r>
            <a:r>
              <a:rPr lang="fr-FR" dirty="0"/>
              <a:t>: </a:t>
            </a:r>
            <a:r>
              <a:rPr lang="en-US" dirty="0"/>
              <a:t>classification, </a:t>
            </a:r>
            <a:r>
              <a:rPr lang="en-US" dirty="0" err="1"/>
              <a:t>number_of_clusters</a:t>
            </a:r>
            <a:r>
              <a:rPr lang="en-US" dirty="0"/>
              <a:t>, </a:t>
            </a:r>
            <a:r>
              <a:rPr lang="en-US" dirty="0" err="1"/>
              <a:t>taxlevel</a:t>
            </a:r>
            <a:r>
              <a:rPr lang="en-US" dirty="0"/>
              <a:t>, </a:t>
            </a:r>
          </a:p>
          <a:p>
            <a:r>
              <a:rPr lang="en-US" dirty="0" err="1"/>
              <a:t>clustering_parameter</a:t>
            </a:r>
            <a:endParaRPr lang="en-US" dirty="0"/>
          </a:p>
          <a:p>
            <a:r>
              <a:rPr lang="en-US" dirty="0"/>
              <a:t>Plot</a:t>
            </a:r>
            <a:endParaRPr lang="fr-FR" dirty="0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FEA07F86-2939-7A5A-D8DC-E18B7AC3EECB}"/>
              </a:ext>
            </a:extLst>
          </p:cNvPr>
          <p:cNvCxnSpPr>
            <a:cxnSpLocks/>
            <a:stCxn id="5" idx="2"/>
            <a:endCxn id="35" idx="1"/>
          </p:cNvCxnSpPr>
          <p:nvPr/>
        </p:nvCxnSpPr>
        <p:spPr>
          <a:xfrm>
            <a:off x="1313056" y="2939225"/>
            <a:ext cx="5933616" cy="63258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AC27CD6E-FB5E-3265-80D7-4AA98F8503FD}"/>
              </a:ext>
            </a:extLst>
          </p:cNvPr>
          <p:cNvCxnSpPr>
            <a:cxnSpLocks/>
            <a:stCxn id="6" idx="2"/>
            <a:endCxn id="35" idx="1"/>
          </p:cNvCxnSpPr>
          <p:nvPr/>
        </p:nvCxnSpPr>
        <p:spPr>
          <a:xfrm>
            <a:off x="5983698" y="2882778"/>
            <a:ext cx="1262974" cy="68903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EC13621D-576D-C4F5-7478-834B08C6604F}"/>
              </a:ext>
            </a:extLst>
          </p:cNvPr>
          <p:cNvCxnSpPr>
            <a:cxnSpLocks/>
            <a:stCxn id="34" idx="0"/>
            <a:endCxn id="35" idx="2"/>
          </p:cNvCxnSpPr>
          <p:nvPr/>
        </p:nvCxnSpPr>
        <p:spPr>
          <a:xfrm flipH="1" flipV="1">
            <a:off x="9719336" y="4171975"/>
            <a:ext cx="166456" cy="148552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84383C2-1FCB-5ECD-C74F-0A579D82B7B9}"/>
              </a:ext>
            </a:extLst>
          </p:cNvPr>
          <p:cNvSpPr txBox="1"/>
          <p:nvPr/>
        </p:nvSpPr>
        <p:spPr>
          <a:xfrm>
            <a:off x="4138909" y="4204398"/>
            <a:ext cx="49321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pool_by_cluster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(</a:t>
            </a:r>
            <a:r>
              <a:rPr lang="fr-FR" dirty="0" err="1"/>
              <a:t>run_swarm</a:t>
            </a:r>
            <a:r>
              <a:rPr lang="fr-FR" dirty="0"/>
              <a:t>, </a:t>
            </a:r>
            <a:r>
              <a:rPr lang="fr-FR" dirty="0" err="1"/>
              <a:t>run_clustersize</a:t>
            </a:r>
            <a:r>
              <a:rPr lang="fr-FR" dirty="0"/>
              <a:t> )</a:t>
            </a:r>
          </a:p>
          <a:p>
            <a:r>
              <a:rPr lang="fr-FR" dirty="0" err="1"/>
              <a:t>Df</a:t>
            </a:r>
            <a:r>
              <a:rPr lang="fr-FR" dirty="0"/>
              <a:t>:</a:t>
            </a:r>
            <a:r>
              <a:rPr lang="en-US" dirty="0"/>
              <a:t> </a:t>
            </a:r>
            <a:r>
              <a:rPr lang="en-US" dirty="0" err="1"/>
              <a:t>asv</a:t>
            </a:r>
            <a:r>
              <a:rPr lang="en-US" dirty="0"/>
              <a:t>, sample, replicate (optional), </a:t>
            </a:r>
            <a:r>
              <a:rPr lang="en-US" dirty="0" err="1"/>
              <a:t>read_count</a:t>
            </a:r>
            <a:endParaRPr lang="fr-FR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263EF548-527C-83D3-998D-BC6819F4E813}"/>
              </a:ext>
            </a:extLst>
          </p:cNvPr>
          <p:cNvCxnSpPr>
            <a:cxnSpLocks/>
            <a:stCxn id="5" idx="2"/>
            <a:endCxn id="45" idx="0"/>
          </p:cNvCxnSpPr>
          <p:nvPr/>
        </p:nvCxnSpPr>
        <p:spPr>
          <a:xfrm>
            <a:off x="1313056" y="2939225"/>
            <a:ext cx="5291945" cy="12651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5E15F49A-A2D7-704C-432C-33C353A956EA}"/>
              </a:ext>
            </a:extLst>
          </p:cNvPr>
          <p:cNvCxnSpPr>
            <a:cxnSpLocks/>
            <a:stCxn id="6" idx="2"/>
            <a:endCxn id="45" idx="0"/>
          </p:cNvCxnSpPr>
          <p:nvPr/>
        </p:nvCxnSpPr>
        <p:spPr>
          <a:xfrm>
            <a:off x="5983698" y="2882778"/>
            <a:ext cx="621303" cy="1321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A7244358-F164-6F68-CB54-D37D59951181}"/>
              </a:ext>
            </a:extLst>
          </p:cNvPr>
          <p:cNvSpPr txBox="1"/>
          <p:nvPr/>
        </p:nvSpPr>
        <p:spPr>
          <a:xfrm>
            <a:off x="189447" y="5427321"/>
            <a:ext cx="5090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ClusterASV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(</a:t>
            </a:r>
            <a:r>
              <a:rPr lang="fr-FR" dirty="0" err="1"/>
              <a:t>Swarm</a:t>
            </a:r>
            <a:r>
              <a:rPr lang="fr-FR" dirty="0"/>
              <a:t> and </a:t>
            </a:r>
            <a:r>
              <a:rPr lang="fr-FR" dirty="0" err="1"/>
              <a:t>ClusterSize</a:t>
            </a:r>
            <a:r>
              <a:rPr lang="fr-FR" dirty="0"/>
              <a:t>)</a:t>
            </a:r>
          </a:p>
          <a:p>
            <a:r>
              <a:rPr lang="fr-FR" dirty="0" err="1"/>
              <a:t>Df</a:t>
            </a:r>
            <a:r>
              <a:rPr lang="fr-FR" dirty="0"/>
              <a:t>:</a:t>
            </a:r>
            <a:r>
              <a:rPr lang="en-US" dirty="0"/>
              <a:t> </a:t>
            </a:r>
            <a:r>
              <a:rPr lang="en-US" dirty="0" err="1"/>
              <a:t>asv</a:t>
            </a:r>
            <a:r>
              <a:rPr lang="en-US" dirty="0"/>
              <a:t>, sample, replicate (optional), </a:t>
            </a:r>
            <a:r>
              <a:rPr lang="en-US" dirty="0" err="1"/>
              <a:t>read_count</a:t>
            </a:r>
            <a:endParaRPr lang="fr-FR" dirty="0"/>
          </a:p>
        </p:txBody>
      </p: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CDD18088-8865-71CE-B438-967E8BB22BF3}"/>
              </a:ext>
            </a:extLst>
          </p:cNvPr>
          <p:cNvCxnSpPr>
            <a:cxnSpLocks/>
            <a:stCxn id="45" idx="2"/>
            <a:endCxn id="62" idx="0"/>
          </p:cNvCxnSpPr>
          <p:nvPr/>
        </p:nvCxnSpPr>
        <p:spPr>
          <a:xfrm flipH="1">
            <a:off x="2734888" y="5127728"/>
            <a:ext cx="3870113" cy="2995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1A37DBEB-0223-EFAC-8A13-D3146D1D3DAE}"/>
              </a:ext>
            </a:extLst>
          </p:cNvPr>
          <p:cNvCxnSpPr>
            <a:cxnSpLocks/>
            <a:stCxn id="5" idx="2"/>
            <a:endCxn id="62" idx="0"/>
          </p:cNvCxnSpPr>
          <p:nvPr/>
        </p:nvCxnSpPr>
        <p:spPr>
          <a:xfrm>
            <a:off x="1313056" y="2939225"/>
            <a:ext cx="1421832" cy="24880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7560C362-C87A-F1C2-E7BC-537BA0283EEC}"/>
              </a:ext>
            </a:extLst>
          </p:cNvPr>
          <p:cNvCxnSpPr>
            <a:cxnSpLocks/>
            <a:stCxn id="6" idx="2"/>
            <a:endCxn id="62" idx="0"/>
          </p:cNvCxnSpPr>
          <p:nvPr/>
        </p:nvCxnSpPr>
        <p:spPr>
          <a:xfrm flipH="1">
            <a:off x="2734888" y="2882778"/>
            <a:ext cx="3248810" cy="25445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7186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156</Words>
  <Application>Microsoft Office PowerPoint</Application>
  <PresentationFormat>Grand écran</PresentationFormat>
  <Paragraphs>24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Emese Meglecz</dc:creator>
  <cp:lastModifiedBy>Emese Meglecz</cp:lastModifiedBy>
  <cp:revision>7</cp:revision>
  <dcterms:created xsi:type="dcterms:W3CDTF">2025-09-25T12:29:59Z</dcterms:created>
  <dcterms:modified xsi:type="dcterms:W3CDTF">2025-10-03T14:58:29Z</dcterms:modified>
</cp:coreProperties>
</file>